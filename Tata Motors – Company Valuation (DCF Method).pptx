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 Bagul" userId="e93a5918c85d1f8d" providerId="LiveId" clId="{131086FA-52C3-4299-8E33-AFF450FB95FF}"/>
    <pc:docChg chg="custSel modSld">
      <pc:chgData name="Yash Bagul" userId="e93a5918c85d1f8d" providerId="LiveId" clId="{131086FA-52C3-4299-8E33-AFF450FB95FF}" dt="2026-02-17T16:11:43.011" v="0" actId="21"/>
      <pc:docMkLst>
        <pc:docMk/>
      </pc:docMkLst>
      <pc:sldChg chg="delSp mod">
        <pc:chgData name="Yash Bagul" userId="e93a5918c85d1f8d" providerId="LiveId" clId="{131086FA-52C3-4299-8E33-AFF450FB95FF}" dt="2026-02-17T16:11:43.011" v="0" actId="21"/>
        <pc:sldMkLst>
          <pc:docMk/>
          <pc:sldMk cId="1529240468" sldId="256"/>
        </pc:sldMkLst>
        <pc:spChg chg="del">
          <ac:chgData name="Yash Bagul" userId="e93a5918c85d1f8d" providerId="LiveId" clId="{131086FA-52C3-4299-8E33-AFF450FB95FF}" dt="2026-02-17T16:11:43.011" v="0" actId="21"/>
          <ac:spMkLst>
            <pc:docMk/>
            <pc:sldMk cId="1529240468" sldId="256"/>
            <ac:spMk id="3" creationId="{A18B1289-876D-2C34-8CC1-E5B064A626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B534-D4A4-3390-2E1F-2C53404DF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01F9F1-FE6F-716D-793C-71DBE99FB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E4CBC-7FC1-3A4F-62D5-283AB2BA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3504B-4A23-E4AD-2EC5-13E2AB53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DFEBC-3B51-B586-3D0E-3861CB45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10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6539-6E94-A293-536E-2E6FAED4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97D9A-5CB4-4471-720C-1C85C4105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CA221-647F-3A08-66B7-B319890C6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1E359-04A2-3D1C-CC99-97F0795F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E9B7E-80DF-E785-EF58-7824DF6C6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67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1F743-F890-B0E9-AA87-416A07569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AF7F7-F89F-A9FF-76A3-83C87EDD7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14CBD-4E24-366D-D337-EBCA769C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412D0-A9E5-3B3F-5C94-0F1BC2387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6BF5C-E993-E3D0-D8D1-BF22C477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957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AB66-1D26-2DAE-FADF-A174F238B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FDB17-2F70-71B2-9B7C-FEDE6FBC7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EC672-EB64-0FC4-1C5C-C2CB6262D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4EF1F-907B-C218-920C-13A305494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9F82D-2D09-5FE1-1E20-E244D058C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1ADC5-86BA-4B36-4AA5-8B6F2B116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04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73CC-55D6-0EC9-7F84-F4973605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44FE9-3CF8-0756-67D6-466120177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E281D-DD25-04E4-FE04-353691CE4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A0680-A469-8ECB-3916-015D6C022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EF07F-F953-D577-25A5-0AF1483B8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F9D28A-3BC1-397D-115C-BB68DD54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C4B472-6353-4488-16BF-B10316191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3698A-6941-4EEF-6718-316C366B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56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E273-43DD-C697-F357-029F01B30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A93E2-459D-83BC-1D5C-CC80F52D0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E8B9D-036A-63B2-B485-A6B58A4D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76FB95-7CBE-A2FE-65A5-B516F70D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53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88069-D169-9573-D50D-C9A307033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7841AB-0408-2DD2-F591-07A9D102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E2ACD-15B9-50A3-2006-1011F0272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33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472F-18E4-FA73-8BB7-EF2730471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D38C3-3026-5423-DD4F-0BE569BB7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7636B-13F8-B31C-118D-04F3A7D59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99AE5-2F6E-406D-279A-3E91D128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12E25-92EA-364D-63DD-223E972A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FF6F2-81C1-30BD-C8F0-39CA5F39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8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3D71-DE31-EDAF-A458-B4535AD0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B073F-1CC1-E313-0AAD-B26E320A7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D8958-DF64-F511-421F-D161CDEC6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B1435-D54D-AFFB-4A61-88E68A86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409EB-998E-6082-EB9D-7443B2EC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57184-83D1-EC32-38D2-5CB670DA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6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B3617-7EFC-C4CE-CA09-3B37D8F4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568DD-352C-5151-7A10-064F8FB24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327B3-80A6-92F3-CD43-C5F84BE5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0F4FF-942C-3A86-C9F6-9BEE3FA35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359B1-92CE-4850-0633-7659839A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83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A832D-6F81-1F39-C9F2-A52275E29F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7FCA1-8FE3-6F5D-F5EF-9682B8A93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E2B16-DD51-D786-A2F5-DE11CFAC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B90BC-1A71-4410-1DB7-80378D52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E3EB1-CDA2-9973-F812-CD298C4D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04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39CFA-BE94-7FDF-AFE7-DC4A99E98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B33F8-5E2F-73F0-5DE7-4E87D95C8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4669B-20D8-DA11-E68D-E3AB1D110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2BDDB-D3A7-4C70-9596-9F73C1DD566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4CDB2-8D26-9D3A-A992-2DA4D3D07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D2333-4F1A-0CDA-24EF-F4D5F2BC8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7EB32-5608-42A1-B1D3-789BD736C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14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5A073-3F6C-1FA3-33DD-FCC7E0A1A0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Tata Motors – Company Valuation (DCF Method)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24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BB94-A9B8-8D18-FCF5-16D43F12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Company Overview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68FFF-2CFC-7C19-EF94-A4A03F0B8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Tata Motors is a leading Indian automobile manufacturer</a:t>
            </a:r>
          </a:p>
          <a:p>
            <a:r>
              <a:rPr lang="en-US" dirty="0"/>
              <a:t>Part of the Tata Group</a:t>
            </a:r>
          </a:p>
          <a:p>
            <a:r>
              <a:rPr lang="en-US" dirty="0"/>
              <a:t>Operates in passenger and commercial vehicles</a:t>
            </a:r>
          </a:p>
          <a:p>
            <a:r>
              <a:rPr lang="en-US" dirty="0"/>
              <a:t>Global presence including Jaguar Land Rover</a:t>
            </a:r>
          </a:p>
          <a:p>
            <a:r>
              <a:rPr lang="en-US" dirty="0"/>
              <a:t>Listed on NSE and BSE</a:t>
            </a:r>
          </a:p>
          <a:p>
            <a:r>
              <a:rPr lang="en-US" dirty="0"/>
              <a:t>Objective: To estimate intrinsic value using DCF valuation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85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4C85-A134-F70A-21D7-56EFDC81B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Financial Performance Analysis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5CFC3B-FAEE-70DF-3957-4192F02F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Revenue has shown steady growth over last 5 years</a:t>
            </a:r>
          </a:p>
          <a:p>
            <a:r>
              <a:rPr lang="en-US" dirty="0"/>
              <a:t>Profitability improved after 2022</a:t>
            </a:r>
          </a:p>
          <a:p>
            <a:r>
              <a:rPr lang="en-US" dirty="0"/>
              <a:t>EBIT margin increased</a:t>
            </a:r>
          </a:p>
          <a:p>
            <a:r>
              <a:rPr lang="en-US" dirty="0"/>
              <a:t>Company showing strong recovery</a:t>
            </a:r>
          </a:p>
          <a:p>
            <a:r>
              <a:rPr lang="en-US" dirty="0"/>
              <a:t>Overall financial performance improving</a:t>
            </a:r>
          </a:p>
          <a:p>
            <a:r>
              <a:rPr lang="en-US" dirty="0"/>
              <a:t>Financial performance indicates stable growth and improving profitability.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1338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241E-33FB-13A2-4729-F5E21910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Financial Forecast &amp; Assumptions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C3766-19C8-252A-1107-92602C19C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Revenue forecast based on historical growth rate</a:t>
            </a:r>
          </a:p>
          <a:p>
            <a:r>
              <a:rPr lang="en-US" dirty="0"/>
              <a:t>EBIT margin assumed stable </a:t>
            </a:r>
          </a:p>
          <a:p>
            <a:r>
              <a:rPr lang="en-US" dirty="0"/>
              <a:t>Depreciation ~ 6% of revenue</a:t>
            </a:r>
          </a:p>
          <a:p>
            <a:r>
              <a:rPr lang="en-US" dirty="0"/>
              <a:t>Forecast prepared for 3 years (2025-2027)</a:t>
            </a:r>
          </a:p>
          <a:p>
            <a:r>
              <a:rPr lang="en-US" dirty="0"/>
              <a:t>Based on past financial trends</a:t>
            </a:r>
          </a:p>
          <a:p>
            <a:r>
              <a:rPr lang="en-US" dirty="0"/>
              <a:t>Forecast helps estimate future free cash flows.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665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B754-65C0-4016-CE51-B7168A79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DCF Valuation Result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A5104-271D-CE44-6D37-AC0E5C097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 used: Discounted Cash Flow (DCF)</a:t>
            </a:r>
          </a:p>
          <a:p>
            <a:r>
              <a:rPr lang="en-US" dirty="0"/>
              <a:t>Discount rate = 10%</a:t>
            </a:r>
          </a:p>
          <a:p>
            <a:r>
              <a:rPr lang="en-US" dirty="0"/>
              <a:t>Terminal growth rate = 4%</a:t>
            </a:r>
          </a:p>
          <a:p>
            <a:r>
              <a:rPr lang="en-US" dirty="0"/>
              <a:t>Based on projected free cash flows </a:t>
            </a:r>
          </a:p>
          <a:p>
            <a:r>
              <a:rPr lang="en-US" dirty="0"/>
              <a:t>Terminal value included</a:t>
            </a:r>
          </a:p>
          <a:p>
            <a:r>
              <a:rPr lang="en-US" dirty="0"/>
              <a:t>Intrinsic Value = </a:t>
            </a:r>
            <a:r>
              <a:rPr lang="en-IN" dirty="0"/>
              <a:t>₹330 per share</a:t>
            </a:r>
          </a:p>
        </p:txBody>
      </p:sp>
    </p:spTree>
    <p:extLst>
      <p:ext uri="{BB962C8B-B14F-4D97-AF65-F5344CB8AC3E}">
        <p14:creationId xmlns:p14="http://schemas.microsoft.com/office/powerpoint/2010/main" val="3375835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BB52-16A4-A97A-9CAE-839789104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Investment Decision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2E872-0177-C6A5-E4E6-D736E314E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Intrinsic Value = </a:t>
            </a:r>
            <a:r>
              <a:rPr lang="en-IN" dirty="0"/>
              <a:t>₹330 per share</a:t>
            </a:r>
          </a:p>
          <a:p>
            <a:r>
              <a:rPr lang="en-IN" dirty="0"/>
              <a:t>Current market price = ₹382 per share </a:t>
            </a:r>
          </a:p>
          <a:p>
            <a:r>
              <a:rPr lang="en-IN" dirty="0"/>
              <a:t>Intrinsic Value is lower than market price </a:t>
            </a:r>
          </a:p>
          <a:p>
            <a:r>
              <a:rPr lang="en-IN" dirty="0"/>
              <a:t>Stock appears overvalued </a:t>
            </a:r>
          </a:p>
          <a:p>
            <a:r>
              <a:rPr lang="en-IN" dirty="0"/>
              <a:t>Recommendation: SELL</a:t>
            </a:r>
          </a:p>
          <a:p>
            <a:r>
              <a:rPr lang="en-IN" dirty="0"/>
              <a:t>Valuation based on financial assumptions and may vary with market conditions.</a:t>
            </a:r>
          </a:p>
        </p:txBody>
      </p:sp>
    </p:spTree>
    <p:extLst>
      <p:ext uri="{BB962C8B-B14F-4D97-AF65-F5344CB8AC3E}">
        <p14:creationId xmlns:p14="http://schemas.microsoft.com/office/powerpoint/2010/main" val="349769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Office Theme</vt:lpstr>
      <vt:lpstr>Tata Motors – Company Valuation (DCF Method)</vt:lpstr>
      <vt:lpstr>Company Overview </vt:lpstr>
      <vt:lpstr>Financial Performance Analysis </vt:lpstr>
      <vt:lpstr>Financial Forecast &amp; Assumptions</vt:lpstr>
      <vt:lpstr>DCF Valuation Result</vt:lpstr>
      <vt:lpstr>Investment Decision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Bagul</dc:creator>
  <cp:lastModifiedBy>Yash Bagul</cp:lastModifiedBy>
  <cp:revision>1</cp:revision>
  <dcterms:created xsi:type="dcterms:W3CDTF">2026-02-17T16:11:17Z</dcterms:created>
  <dcterms:modified xsi:type="dcterms:W3CDTF">2026-02-17T16:11:44Z</dcterms:modified>
</cp:coreProperties>
</file>