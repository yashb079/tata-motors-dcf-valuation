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2A4A"/>
                </a:solidFill>
                <a:latin typeface="Arial"/>
              </a:rPr>
              <a:t>Revenue (INR Crores)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 Cr)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3E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FY2020</c:v>
                  </c:pt>
                  <c:pt idx="1">
                    <c:v>FY2021</c:v>
                  </c:pt>
                  <c:pt idx="2">
                    <c:v>FY2022</c:v>
                  </c:pt>
                  <c:pt idx="3">
                    <c:v>FY2023</c:v>
                  </c:pt>
                  <c:pt idx="4">
                    <c:v>FY2024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261068</c:v>
                </c:pt>
                <c:pt idx="1">
                  <c:v>249795</c:v>
                </c:pt>
                <c:pt idx="2">
                  <c:v>278454</c:v>
                </c:pt>
                <c:pt idx="3">
                  <c:v>345967</c:v>
                </c:pt>
                <c:pt idx="4">
                  <c:v>434016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2A4A"/>
                </a:solidFill>
                <a:latin typeface="Arial"/>
              </a:rPr>
              <a:t>Net Income (INR Crores)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Income (INR Cr)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FY2020</c:v>
                  </c:pt>
                  <c:pt idx="1">
                    <c:v>FY2021</c:v>
                  </c:pt>
                  <c:pt idx="2">
                    <c:v>FY2022</c:v>
                  </c:pt>
                  <c:pt idx="3">
                    <c:v>FY2023</c:v>
                  </c:pt>
                  <c:pt idx="4">
                    <c:v>FY2024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-13395</c:v>
                </c:pt>
                <c:pt idx="1">
                  <c:v>-13</c:v>
                </c:pt>
                <c:pt idx="2">
                  <c:v>-1108</c:v>
                </c:pt>
                <c:pt idx="3">
                  <c:v>31807</c:v>
                </c:pt>
                <c:pt idx="4">
                  <c:v>28149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 LIMITED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5361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Valuation — Discounted Cash Flow (DCF) Method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993392"/>
            <a:ext cx="45720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587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1460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14600" y="2587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330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587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Value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12280" y="2176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382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2587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Bagul</a:t>
            </a:r>
            <a:pPr indent="0" marL="0">
              <a:buNone/>
            </a:pPr>
            <a:r>
              <a:rPr lang="en-US" sz="11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MBA Finance (In Progress)   |   Self-Initiated Research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Tata Motors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Tata Group — India's largest conglomerate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passenger vehicles, commercial vehicles, and EVs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Jaguar Land Rover (JLR) — acquired in 2008 for $2.3B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JLR contributes ~70–75% of consolidated revenue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 NSE and BSE (ticker: TATAMOTORS)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profitability in FY2023 after losses in FY2020–22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04672"/>
            <a:ext cx="411480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0467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Financials (INR Cr)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81728" y="1261872"/>
            <a:ext cx="1005840" cy="493776"/>
          </a:xfrm>
          <a:prstGeom prst="rect">
            <a:avLst/>
          </a:prstGeom>
          <a:solidFill>
            <a:srgbClr val="2C3E6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261872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33288" y="1261872"/>
            <a:ext cx="868680" cy="493776"/>
          </a:xfrm>
          <a:prstGeom prst="rect">
            <a:avLst/>
          </a:prstGeom>
          <a:solidFill>
            <a:srgbClr val="2C3E6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864" y="1261872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01968" y="1261872"/>
            <a:ext cx="868680" cy="493776"/>
          </a:xfrm>
          <a:prstGeom prst="rect">
            <a:avLst/>
          </a:prstGeom>
          <a:solidFill>
            <a:srgbClr val="2C3E6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1261872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70648" y="1261872"/>
            <a:ext cx="868680" cy="493776"/>
          </a:xfrm>
          <a:prstGeom prst="rect">
            <a:avLst/>
          </a:prstGeom>
          <a:solidFill>
            <a:srgbClr val="2C3E6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07224" y="1261872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81728" y="1773936"/>
            <a:ext cx="100584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773936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33288" y="1773936"/>
            <a:ext cx="86868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9864" y="1773936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2,78,454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01968" y="1773936"/>
            <a:ext cx="86868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1773936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3,45,967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0648" y="1773936"/>
            <a:ext cx="86868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07224" y="1773936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4,34,016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81728" y="2286000"/>
            <a:ext cx="1005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2286000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33288" y="2286000"/>
            <a:ext cx="868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9864" y="2286000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36,147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01968" y="2286000"/>
            <a:ext cx="868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8544" y="2286000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42,492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2286000"/>
            <a:ext cx="868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07224" y="2286000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68,831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81728" y="2798064"/>
            <a:ext cx="100584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2798064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33288" y="2798064"/>
            <a:ext cx="86868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9864" y="2798064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01968" y="2798064"/>
            <a:ext cx="86868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8544" y="2798064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70648" y="2798064"/>
            <a:ext cx="86868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07224" y="2798064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81728" y="3310128"/>
            <a:ext cx="1005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304" y="3310128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33288" y="3310128"/>
            <a:ext cx="868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9864" y="3310128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(1,108)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601968" y="3310128"/>
            <a:ext cx="868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8544" y="3310128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31,807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470648" y="3310128"/>
            <a:ext cx="868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07224" y="3310128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28,149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81728" y="3822192"/>
            <a:ext cx="100584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18304" y="3822192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733288" y="3822192"/>
            <a:ext cx="86868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9864" y="3822192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601968" y="3822192"/>
            <a:ext cx="86868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38544" y="3822192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470648" y="3822192"/>
            <a:ext cx="868680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07224" y="3822192"/>
            <a:ext cx="795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25.5%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FINANCIAL PERFORMANCE (FY2020–FY2024)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41148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777240"/>
          <a:ext cx="41148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858768"/>
            <a:ext cx="85953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38862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at a 5-year CAGR of ~13.6%. The company turned PAT-positive in FY2023 after 3 years of losses, primarily driven by JLR's recovery post chip shortage. FY2024 revenue of INR 4.34L Cr represents the highest in company history.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ASSUMPTIONS &amp; RATIONALE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24231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795528"/>
            <a:ext cx="10058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7955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94760" y="795528"/>
            <a:ext cx="10058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7955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795528"/>
            <a:ext cx="10058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7955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97880" y="795528"/>
            <a:ext cx="2971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7955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Rationale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179576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179576"/>
            <a:ext cx="2313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Rate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1179576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17957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(hist. avg)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94760" y="1179576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17957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179576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7957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179576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179576"/>
            <a:ext cx="2880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4-year historical average — felt safer than picking a number; did not want to assume growth would accelerate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1709928"/>
            <a:ext cx="242316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709928"/>
            <a:ext cx="2313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0" y="1709928"/>
            <a:ext cx="10058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17099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 (FY24 actual)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94760" y="1709928"/>
            <a:ext cx="10058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17099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1709928"/>
            <a:ext cx="10058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099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709928"/>
            <a:ext cx="29718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1709928"/>
            <a:ext cx="2880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margin looked a bit high compared to earlier years so I pulled it down slightly to be conservative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24028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240280"/>
            <a:ext cx="2313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% of Revenue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0" y="224028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2240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794760" y="224028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2240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224028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240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897880" y="224028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2240280"/>
            <a:ext cx="2880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consistent with FY23 actuals; kept it flat since I did not have a strong reason to change 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2770632"/>
            <a:ext cx="242316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2770632"/>
            <a:ext cx="2313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% of Revenue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0" y="2770632"/>
            <a:ext cx="10058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0" y="277063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94760" y="2770632"/>
            <a:ext cx="10058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277063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846320" y="2770632"/>
            <a:ext cx="10058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277063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897880" y="2770632"/>
            <a:ext cx="29718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2770632"/>
            <a:ext cx="2880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capex over FY20-24; auto is capex-heavy so this was always going to be a big drag on FCF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3300984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3300984"/>
            <a:ext cx="2313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(Discount Rate)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743200" y="3300984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0" y="330098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794760" y="3300984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330098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846320" y="3300984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330098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897880" y="3300984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0" y="3300984"/>
            <a:ext cx="2880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10% — accounts for business risk in a cyclical sector; kept it simple without a full CAPM build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3831336"/>
            <a:ext cx="242316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" y="3831336"/>
            <a:ext cx="23134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 Rate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743200" y="3831336"/>
            <a:ext cx="10058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0" y="38313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794760" y="3831336"/>
            <a:ext cx="10058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94760" y="38313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846320" y="3831336"/>
            <a:ext cx="10058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46320" y="38313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897880" y="3831336"/>
            <a:ext cx="29718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43600" y="3831336"/>
            <a:ext cx="2880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felt reasonable for a long-run assumption — roughly in line with where India's nominal GDP is expected to settle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 PROJECTION (FY2025F–FY2027F)  |  INR Crores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2926080" cy="36576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292608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795528"/>
            <a:ext cx="1828800" cy="36576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795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795528"/>
            <a:ext cx="1828800" cy="36576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795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95160" y="795528"/>
            <a:ext cx="1828800" cy="36576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795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197864"/>
            <a:ext cx="292608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97864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197864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197864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119786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46120" y="11978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4,79,444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11978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5,29,626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95160" y="11978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5,85,062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1545336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15453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5453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15453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154533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46120" y="15453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20640" y="15453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95160" y="15453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1892808"/>
            <a:ext cx="292608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1892808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1892808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1892808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189280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(@ 13.9% margin)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46120" y="1892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66,643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0640" y="1892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73,598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95160" y="18928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81,323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2240280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22402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22402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95160" y="22402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" y="224028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Tax @ 25%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46120" y="22402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(16,661)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20640" y="22402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(18,399)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95160" y="22402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(20,331)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2587752"/>
            <a:ext cx="292608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46120" y="2587752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20640" y="2587752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95160" y="2587752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258775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NOPAT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46120" y="25877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49,982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120640" y="25877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55,199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995160" y="25877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60,992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2935224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46120" y="29352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20640" y="29352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95160" y="29352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" y="29352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Depreciation (6%)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246120" y="29352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28,767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120640" y="29352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31,778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995160" y="29352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35,104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4320" y="3282696"/>
            <a:ext cx="292608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46120" y="3282696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20640" y="3282696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95160" y="3282696"/>
            <a:ext cx="1828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" y="328269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Capex (8.8%)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246120" y="32826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(42,191)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120640" y="32826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(46,607)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995160" y="32826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(51,485)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74320" y="3630168"/>
            <a:ext cx="292608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46120" y="3630168"/>
            <a:ext cx="18288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20640" y="3630168"/>
            <a:ext cx="18288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95160" y="3630168"/>
            <a:ext cx="18288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9184" y="36301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246120" y="36301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36,558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120640" y="36301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40,370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995160" y="36301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44,611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74320" y="3977640"/>
            <a:ext cx="292608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46120" y="3977640"/>
            <a:ext cx="18288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120640" y="3977640"/>
            <a:ext cx="18288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95160" y="3977640"/>
            <a:ext cx="182880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9184" y="397764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FCF (@ 10% WACC)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3246120" y="39776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33,235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120640" y="39776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33,364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995160" y="39776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33,504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Revenue growth based on 5-year historical CAGR of 10.4%. EBIT margin normalised at 13.9% (vs FY24 actual of 15.9%) to account for JLR cycle normalisation.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VALUATION — INTRINSIC VALUE &amp; RECOMMENDATION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141732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896112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PV (FCFs)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1752" y="1216152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1,00,103 Cr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1752" y="162763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FY2025–27 discounted at 10%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04288" y="12344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2011680" cy="141732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896112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 (TV)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50592" y="1216152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8,13,018 Cr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50592" y="162763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FCF27×(1.04)/(10%−4%)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53128" y="12344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2011680" cy="141732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5152" y="896112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Terminal Value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99432" y="1216152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6,10,974 Cr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99432" y="162763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discounted 3 years @ 10%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01968" y="12344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20840" y="822960"/>
            <a:ext cx="2011680" cy="141732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93992" y="896112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 (EV)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48272" y="1216152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7,11,077 Cr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48272" y="162763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FCFs + PV of TV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395728"/>
            <a:ext cx="8595360" cy="91440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4688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27432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7,11,077 Cr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37360" y="272491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83080" y="24688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Cash (FY24)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64792" y="27432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+ 27,913 Cr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54680" y="272491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0" y="24688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Debt (FY24)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182112" y="27432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− 55,591 Cr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0" y="272491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17720" y="24688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99432" y="27432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6,83,399 Cr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89320" y="272491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35040" y="24688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Outstanding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16752" y="27432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Cr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06640" y="272491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52360" y="24688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Value/Share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434072" y="27432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330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371600" y="3456432"/>
            <a:ext cx="6400800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511296"/>
            <a:ext cx="6217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SELL
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Value: INR 330  |  Market Price: INR 382  |  Downside: −13.6%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Tata Motors — DCF Valuation</dc:title>
  <dc:subject>PptxGenJS Presentation</dc:subject>
  <dc:creator>Yash Bagul</dc:creator>
  <cp:lastModifiedBy>Yash Bagul</cp:lastModifiedBy>
  <cp:revision>1</cp:revision>
  <dcterms:created xsi:type="dcterms:W3CDTF">2026-03-11T20:28:14Z</dcterms:created>
  <dcterms:modified xsi:type="dcterms:W3CDTF">2026-03-11T20:28:14Z</dcterms:modified>
</cp:coreProperties>
</file>